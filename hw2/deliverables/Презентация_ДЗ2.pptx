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день. Тема нашей работы — влияние рыночного фактора, фактора размера и фактора стоимости на доходность российских акций. Мы взяли 35 акций Московской биржи, данные за десять лет, с 2015 по 2024 год, и сравнили две модели ценообразования: CAPM, где риск один — рыночный, и трёхфакторную модель Фамы–Френча, где к рынку добавляются размер компании и её оценка относительно балансовой стоимости. Главный вопрос: насколько дополнительные факторы улучшают объяснение доходностей и как меняются премии за риск и требуемая доходность по акциям.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работы — оценить, насколько три фактора — рынок, размер и стоимость — объясняют доходности российских акций, и сравнить премии за риск по двум моделям. Задание состоит из шести вопросов, и на слайде видно, где в презентации ответ на каждый. Сначала расскажу о выборке и данных, затем о методологии, потом о результатах регрессий, о премиях за риск, о дополнительных факторах и альтернативных моделях, и в конце — рекомендации, выводы и слабые стороны работы. Все расчёты сделаны в Python, ноутбук с комментариями приложен к работе.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Выборка — 35 акций. Это 15 бумаг из первого домашнего задания и 20 крупнейших по капитализации и ликвидности акций Мосбиржи. Принцип отбора простой: факторы размера и стоимости могут проявиться, только если акции различаются по размеру и по оценке. Поэтому в выборке есть и гиганты — Сбербанк, Лукойл, Газпром, — и бумаги второго эшелона — Ренессанс Страхование, Мосэнергосбыт, Юнипро, МКБ. Есть типичные «акции стоимости» с низким отношением цены к балансу — банки, энергетика, нефть, — и «акции роста» — HeadHunter, Ozon, Яндекс. Общее у всех бумаг: одна площадка, рубли, все входят или входили в индекс Мосбиржи, и по всем есть история дивидендов. Различаются они отраслью, размером, дивидендной политикой и долей государства.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Данные. Цены и индексы мы скачали напрямую с Московской биржи, дивиденды — с dohod.ru со сверкой на smart-lab, безрисковую ставку и кривую ОФЗ — с сайта Банка России, факторы размера и стоимости — из проекта CAPM-RU Абрамова в РАНХиГС. Важное решение: доходности считаются с учётом дивидендов. У российских акций дивиденды дают до 11–12 процентов годовых, без них доходность занижена, а в месяц отсечки цена падает, и регрессия видит в этом убыток. Дивиденд мы относим к месяцу экс-дивидендной даты, с учётом перехода биржи с режима T+2 на T+1 в 2023 году. Переименованные бумаги склеены, восемь месяцев без торгов X5 исключены. Факторы РАНХиГС заканчиваются в декабре 2024 года, поэтому основной период — со 2015 по 2024 год, 119 месяцев.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Безрисковая ставка. Ключевая ставка за период менялась от 4,25 до 21 процента, поэтому одна средняя ставка на весь период исказила бы избыточные доходности: в 2020–2021 годах занизила бы их, в 2024-м — завысила примерно на 10 процентных пунктов годовых. Мы берём свою ставку на каждый месяц — доходность RUONIA, ставки овернайт, капитализированную за месяц. Это аналог одномесячных казначейских векселей, которые используют Фама и Френч. Отдельно мы проверили, как это делает РАНХиГС: у них безрисковая ставка — месячное изменение ценового индекса ОФЗ RGBI. Он падал в 56 месяцах из 119, в феврале 2022 года — на 16 процентов, и без купонов растёт в среднем на 0,05 процента в месяц. Это рисковый актив, а не безрисковая ставка. Как проверку устойчивости мы используем доходность трёхмесячных ОФЗ с кривой ЦБ.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Рыночный фактор мы строим сами: доходность индекса полной доходности MCFTR минус RUONIA. MCFTR включает реинвестированные дивиденды, поэтому согласуется с доходностями акций. На графике видно, что MCFTR обгоняет обычный индекс Мосбиржи примерно на 7 процентов в год — это и есть дивиденды. Главное наблюдение: премия рынка над безрисковой ставкой за 2015–2024 годы — около 5 процентов годовых, и она статистически незначима. Высокие ставки ЦБ и обвал 2022 года съели большую часть превышения акций над депозитом, а в 2025–2026 годах рынок с дивидендами и вовсе отстал от RUONIA. Это важно для дальнейшего: от рыночной премии зависят все оценки ожидаемой доходности по CAPM.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фактора модели. Рынок мы построили сами, SMB и HML взяты у РАНХиГС в версии с дивидендами. SMB — это доходность портфеля малых компаний минус доходность крупных, HML — акций с высоким отношением балансовой стоимости к рыночной минус акций с низким. Безрисковая ставка в этих разностях сокращается, поэтому их можно брать как есть. Результат: малые компании в среднем обгоняли крупные почти на 18 процентов годовых, и это значимо — но во многом за счёт 2023 года, когда SMB за год вырос на 137 процентов. Фактор стоимости в России за десятилетие был отрицательным и незначимым — акции стоимости не обогнали акции роста. Корреляции между факторами низкие, так что мультиколлинеарности в регрессиях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Методология в четыре шага. Первый — временные регрессии: для каждой акции отдельно регрессируем её месячную избыточную доходность на факторы. В CAPM фактор один — рынок, в модели Фамы–Френча три. Беты показывают количество риска, альфа — среднюю доходность, которую факторы не объясняют; если модель верна, альфа равна нулю. Стандартные ошибки — Ньюи–Уэста, они устойчивы к гетероскедастичности и автокорреляции, что важно для кризисных месяцев. Второй шаг — сравниваем модели по R квадрат, по средней абсолютной альфе и совместным тестом Гиббонса–Росса–Шанкена. Третий — процедура Фамы–Макбета: оцениваем, сколько рынок платит за единицу каждого риска. Четвёртый — считаем премии за риск как беты, умноженные на премии факторов, и требуемую доходность от текущей безрисковой ставки — доходности годовых ОФЗ, 13,72 процента на конец сентября 2026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Результаты CAPM. Все беты положительны и значимы, от 0,55 у МКБ до 1,66 у HeadHunter. Выше рынка — компании роста и крупнейшие банки и нефтяники: HeadHunter, Ozon, Т-Технологии, Мечел, Роснефть, Сбербанк. Ниже рынка — защитные бумаги: МКБ, привилегированные Сургутнефтегаза с дивидендной формулой, Полюс — золото дорожает в кризис, — Интер РАО, РусГидро, Ростелеком. Средний R квадрат 0,38: рынок объясняет примерно треть колебаний доходности отдельной акции, остальное — специфический риск. Альфы в большинстве незначимы, то есть для большинства акций CAPM не отвергается. Исключения: Банк Санкт-Петербург и HeadHunter с положительной альфой и ВТБ с отрицательной.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Трёхфакторная модель. На графике — нагрузки каждой акции на три фактора, тёмным выделены значимые. Рыночная бета почти не меняется по сравнению с CAPM, потому что SMB и HML слабо связаны с рынком. Нагрузки на размер и стоимость экономически осмысленны. Как малые компании ведут себя десять бумаг — Банк Санкт-Петербург, Селигдар, HeadHunter, энергетика. Как крупные — Газпром, Алроса и Т-Технологии. Как акции стоимости — банки, энергетика, Башнефть и Газпром: низкая цена к балансу, зрелый бизнес, зависимость от государства и ставок. Как акции роста — HeadHunter, Ozon, Ренессанс, Норникель и Алроса: за их перспективы рынок платит премию к балансу. Значимые нагрузки на размер есть у 13 акций, на стоимость — у 12, то есть у трети выборки.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моделей. Трёхфакторная модель объясняет доходности лучше: средний скорректированный R квадрат растёт с 0,37 до 0,41, средняя абсолютная альфа — ошибка ценообразования — падает с 9,8 до 8,1 процентного пункта годовых. Сильнее всего выигрывают малые компании и бумаги с выраженным профилем стоимости или роста: у Банка Санкт-Петербург R квадрат растёт с 0,32 до 0,50, у HeadHunter — с 0,39 до 0,55. Совместный тест Гиббонса–Росса–Шанкена на 27 акциях с полной историей отвергает обе модели на пятипроцентном уровне: альфы совместно не равны нулю. Но статистика для модели Фамы–Френча меньше, p-value выше — она ближе к цели. Как и на американских данных, трёх факторов недостаточно, чтобы полностью объяснить доходности.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результат работы. На лекции был пример: управляющий по CAPM показывает значимую альфу, а в модели Фамы–Френча она исчезает, потому что это была премия за размер и стоимость. Мы получили то же самое на российских данных. У Банка Санкт-Петербург альфа по CAPM 26,6 процента годовых и значима. В трёхфакторной модели она снижается до 18 процентов и теряет значимость: банк — малая акция стоимости, и часть его доходности — плата за эти риски. У HeadHunter альфа падает с 36 до 10 процентов. А вот у ВТБ отрицательная альфа остаётся и даже усиливается: акционеры ВТБ проиграли из-за размывания доли при допэмиссиях — это специфический риск компании, факторы его не объясняют. На графиках справа — R квадрат и альфы всех 35 акций в двух моделях.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Фамы–Макбета отвечает на вопрос, сколько рынок платит за единицу каждого риска. Беты мы взяли из временных регрессий, а затем каждый месяц регрессировали доходности всех акций на их беты и усреднили коэффициенты. Результат: константы близки к нулю, как и должно быть, а знаки премий совпадают со средними доходностями факторов — плюс за рынок, плюс за размер, минус за стоимость. Но все премии статистически незначимы. На 35 отдельных акциях и десяти годах очень волатильного рынка точно оценить цену риска нельзя. Поэтому для расчёта премий за риск мы используем средние доходности факторов — это стандартный подход для торгуемых факторов, — а Фаму–Макбета рассматриваем как проверку знаков.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главный вопрос задания — сравнение премий за риск. Премия акции равна сумме произведений её бет на премии факторов, а премии факторов — их средние доходности за 2015–2024 годы. На графике синим — премия по CAPM, оранжевым — по Фаме–Френчу, чёрными отметками — фактическая избыточная доходность. Картина разделяется на две группы. Для малых компаний трёхфакторная модель даёт премию заметно выше: HeadHunter — на 16 процентных пунктов, Селигдар — на 12, Банк Санкт-Петербург — на 9, Ozon — на 7. CAPM не видит премию за размер и записывает её в альфу. Для крупных компаний, наоборот, Фама–Френч даёт премию ниже, до минус 4 пунктов у Газпрома: это крупные бумаги с отрицательной нагрузкой на SMB. Важная оговорка: премия за размер почти 18 процентов годовых держится во многом на одном 2023 годе, поэтому в прогноз её нужно брать консервативнее.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перейти к рекомендациям, считаем требуемую доходность, то есть стоимость капитала, на сегодня. Безрисковая ставка — доходность годовых ОФЗ на конец сентября 2026 года, 13,72 процента: инвестор принимает решение сейчас, а не по средней ставке за десять лет. К ней прибавляем премию за риск. Для крупных компаний — Сбербанк, Лукойл, Роснефть — модели дают близкие оценки, в пределах 2–3 пунктов. Для малых расхождение огромное: Банк Санкт-Петербург — 19 процентов по CAPM против 27 по Фаме–Френчу, Селигдар — 19 против 31, HeadHunter — 22 против 39. В правой колонке для сравнения — фактическая средняя избыточная доходность за период: у Банка Санкт-Петербург, Селигдара и HeadHunter она гораздо ближе к оценке Фамы–Френча.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проверили, не зависят ли выводы от наших допущений. Если заменить RUONIA на трёхмесячные ОФЗ, результаты почти не меняются: беты и R квадрат те же, альфы сдвигаются на десятые доли пункта. Значит, важен не выбор конкретной ставки, а то, что она меняется во времени. Если убрать дивиденды, ошибки ценообразования растут и значимых альф становится больше — это подтверждает, что считать полную доходность было правильно. С рыночным фактором РАНХиГС R квадрат заметно ниже: их широкий рынок с ограничением веса компании и безрисковой ставкой по RGBI хуже описывает наши крупные бумаги. И на полном периоде до сентября 2026 года CAPM даёт те же беты. Во всех вариантах трёхфакторная модель лучше CAPM.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вопрос задания — какие ещё факторы можно добавить. По литературе главные кандидаты: моментум Кархарта — акции-победители последних 12 месяцев продолжают расти; ликвидность по Амихуду и Пастору–Стамбо — для бумаг второго эшелона это важно; прибыльность и инвестиции из пятифакторной модели Фамы–Френча 2015 года; макрофакторы по Чену, Роллу и Россу — для России это прежде всего цена нефти и курс рубля; и фактор государственной собственности, который считает РАНХиГС. Моментум и ликвидность мы проверили на своих данных: скорректированный R квадрат растёт лишь с 0,406 до 0,413, значимые нагрузки на моментум у четырёх акций, на ликвидность — у двух. Основную часть систематического риска уже покрывают рынок, размер и стоимость.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Пятый вопрос — альтернативные многофакторные модели. Первая — пятифакторная модель Фамы–Френча с прибыльностью и инвестициями. Она могла бы объяснить устойчиво отрицательные альфы ВТБ и Юнипро: у компаний со слабой прибыльностью и агрессивными инвестициями или допэмиссиями доходность исторически ниже. Вторая — q-модель Хоу, Сюэ и Чжана, похожая по факторам, но выведенная из теории производства. Третья — условная CAPM и модели со скользящими бетами: на российском рынке был структурный слом 2022 года, и беты до и после него различаются. Четвёртая — макроэкономическая версия APT: для сырьевой экономики «плохие времена» — это падение нефти, ослабление рубля и рост ключевой ставки, и такие факторы могут объяснить то, что не ловят портфельные факторы.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Рекомендации. Первое: для крупных ликвидных бумаг — Сбербанк, Лукойл, Роснефть, Газпром — достаточно CAPM, она даже немного завышает стоимость капитала. Второе: для малых компаний и бумаг с выраженным профилем роста или стоимости нужна трёхфакторная модель, иначе стоимость капитала занижена на 4–16 процентных пунктов — а это прямая ошибка в оценке компании методом DCF. Третье: альфу управляющего или инвестидеи нужно проверять многофакторной моделью — высокая доходность Банка Санкт-Петербург и HeadHunter во многом плата за размер и стоимость. Четвёртое: единственная значимая положительная альфа в модели Фамы–Френча у Сбербанка, около 13 процентов годовых, но на границе значимости; ВТБ и Юнипро с отрицательной альфой при прочих равных стоит недовешивать. Пятое: для защитного портфеля подходят бумаги с низкой бетой, для ставки на рост рынка — с высокой.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Подведу итог. Первое: рыночный фактор объясняет около 38 процентов колебаний доходности российских акций, добавление факторов размера и стоимости повышает эту долю до 42 процентов и снижает ошибки ценообразования на 1,7 пункта в год. Второе: нагрузки на размер и стоимость значимы у трети выборки и экономически осмысленны — малые банки и энергетика ведут себя как малые компании, банки и энергетика — как акции стоимости, IT — как акции роста. Третье: для малых компаний CAPM занижает премию за риск до 16 процентных пунктов. Совместный тест отвергает обе модели, но трёхфакторная модель заметно ближе к цели, и эти выводы устойчивы к выбору безрисковой ставки, к учёту дивидендов и к периоду.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 завершение — слабые стороны работы, которые мы сами видим. Первое: факторы РАНХиГС доступны только до декабря 2024 года, поэтому 2025–2026 годы не вошли в трёхфакторную модель; решение — построить SMB и HML самостоятельно по данным биржи и отчётности. Второе: мы тестировали отдельные акции, а не портфели, поэтому беты шумные и Фама–Макбет незначим; правильнее использовать тестовые портфели по размеру и B/M и поправку Шанкена. Третье: премии факторов неустойчивы — премия за размер держится на 2023 годе, премия рынка незначима, поэтому оценки требуемой доходности приблизительны. Четвёртое: беты считаются постоянными, хотя в 2022 году был структурный слом. Пятое: у части бумаг короткая история. Шестое: данные из разных источников. Спасибо за внимание,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ca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f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bs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pre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ex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r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con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